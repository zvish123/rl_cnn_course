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502920"/>
            <a:ext cx="3474720" cy="4114800"/>
          </a:xfrm>
          <a:prstGeom prst="rect">
            <a:avLst/>
          </a:prstGeom>
          <a:solidFill>
            <a:srgbClr val="111827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9732" y="685800"/>
            <a:ext cx="64008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99732" y="1088136"/>
            <a:ext cx="64008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9732" y="1490472"/>
            <a:ext cx="64008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9732" y="1892808"/>
            <a:ext cx="64008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9732" y="2295144"/>
            <a:ext cx="64008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9732" y="2697480"/>
            <a:ext cx="64008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9732" y="3099816"/>
            <a:ext cx="64008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9732" y="3502152"/>
            <a:ext cx="64008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9732" y="3904488"/>
            <a:ext cx="64008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828800"/>
            <a:ext cx="10972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1463040"/>
            <a:ext cx="10972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057400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6400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8F0"/>
                </a:solidFill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772400" y="6400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8F0"/>
                </a:solidFill>
              </a:rPr>
              <a:t>19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03520" y="4645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מסך Atari Pong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6400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Atari Pong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11887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מרחב הפעולות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11480" y="2103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פעולות · Discrete(6) · PongNoFrameskip-v4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52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OpenAI Gym · ALE · Asynchronous Advantage Actor-Critic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6 הפעולות של Pong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env.action_space.n = 6  |  get_action_meanings()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651760" cy="1463040"/>
          </a:xfrm>
          <a:prstGeom prst="rect">
            <a:avLst/>
          </a:prstGeom>
          <a:solidFill>
            <a:srgbClr val="1A2235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64008" cy="1463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225296"/>
            <a:ext cx="347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2252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225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NOOP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אין פעולה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" y="21214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מחכה, לא זז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115568"/>
            <a:ext cx="2651760" cy="1463040"/>
          </a:xfrm>
          <a:prstGeom prst="rect">
            <a:avLst/>
          </a:prstGeom>
          <a:solidFill>
            <a:srgbClr val="0F152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115568"/>
            <a:ext cx="64008" cy="1463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225296"/>
            <a:ext cx="347472" cy="29260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2252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1225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64408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ירי / הפעלה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64408" y="21214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זהה ל-NOOP ב-Pong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225296"/>
            <a:ext cx="896112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2529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מיותרת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115568"/>
            <a:ext cx="2651760" cy="1463040"/>
          </a:xfrm>
          <a:prstGeom prst="rect">
            <a:avLst/>
          </a:prstGeom>
          <a:solidFill>
            <a:srgbClr val="1A223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115568"/>
            <a:ext cx="64008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0488" y="1225296"/>
            <a:ext cx="347472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12252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1225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90488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למעלה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90488" y="21214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מחבט עולה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2788920"/>
            <a:ext cx="2651760" cy="1463040"/>
          </a:xfrm>
          <a:prstGeom prst="rect">
            <a:avLst/>
          </a:prstGeom>
          <a:solidFill>
            <a:srgbClr val="1A223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78892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2898648"/>
            <a:ext cx="347472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28986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28986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38328" y="3319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למטה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8328" y="3794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מחבט יורד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54680" y="2788920"/>
            <a:ext cx="2651760" cy="1463040"/>
          </a:xfrm>
          <a:prstGeom prst="rect">
            <a:avLst/>
          </a:prstGeom>
          <a:solidFill>
            <a:srgbClr val="0F152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2788920"/>
            <a:ext cx="64008" cy="1463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4408" y="2898648"/>
            <a:ext cx="347472" cy="29260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28986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03320" y="28986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RIGHTFIRE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264408" y="3319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למעלה + ירי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264408" y="3794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זהה ל-RIGHT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2898648"/>
            <a:ext cx="896112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89864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מיותרת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80760" y="2788920"/>
            <a:ext cx="2651760" cy="1463040"/>
          </a:xfrm>
          <a:prstGeom prst="rect">
            <a:avLst/>
          </a:prstGeom>
          <a:solidFill>
            <a:srgbClr val="0F152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80760" y="2788920"/>
            <a:ext cx="64008" cy="1463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0488" y="2898648"/>
            <a:ext cx="347472" cy="29260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0488" y="28986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29400" y="28986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LEFTFIRE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190488" y="3319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למטה + ירי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190488" y="3794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זהה ל-LEFT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726680" y="2898648"/>
            <a:ext cx="896112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289864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מיותרת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0F152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4074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⚠  3 פעולות בלבד משפיעות בפועל:  RIGHT (עלייה) · LEFT (ירידה) · NOOP (עמידה)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הסוכן ב-Pong — מבט מהמשחק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389120" cy="3840480"/>
          </a:xfrm>
          <a:prstGeom prst="rect">
            <a:avLst/>
          </a:prstGeom>
          <a:solidFill>
            <a:srgbClr val="0D1117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7240"/>
            <a:ext cx="438912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81381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0" y="81381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</a:rPr>
              <a:t>19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615184" y="1371600"/>
            <a:ext cx="73152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15184" y="1783080"/>
            <a:ext cx="73152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15184" y="2194560"/>
            <a:ext cx="73152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15184" y="2606040"/>
            <a:ext cx="73152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3017520"/>
            <a:ext cx="73152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15184" y="3429000"/>
            <a:ext cx="73152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5184" y="3840480"/>
            <a:ext cx="73152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15184" y="4251960"/>
            <a:ext cx="73152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697480"/>
            <a:ext cx="128016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17136" y="2148840"/>
            <a:ext cx="128016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496312"/>
            <a:ext cx="118872" cy="11887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1720" y="2587752"/>
            <a:ext cx="128016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78608" y="2679192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251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סוכן (ירוק)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43251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יריב (אדום)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777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פעולות הסוכן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20640" y="1252728"/>
            <a:ext cx="3749040" cy="749808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1252728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9512" y="1371600"/>
            <a:ext cx="457200" cy="502920"/>
          </a:xfrm>
          <a:prstGeom prst="rect">
            <a:avLst/>
          </a:prstGeom>
          <a:solidFill>
            <a:srgbClr val="0F152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9512" y="1371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↑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806440" y="13075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/ UP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06440" y="1636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מחבט עולה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1472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20640" y="2194560"/>
            <a:ext cx="3749040" cy="749808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2194560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39512" y="2313432"/>
            <a:ext cx="457200" cy="502920"/>
          </a:xfrm>
          <a:prstGeom prst="rect">
            <a:avLst/>
          </a:prstGeom>
          <a:solidFill>
            <a:srgbClr val="0F152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9512" y="2313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↓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806440" y="22494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/ DOWN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80644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מחבט יורד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863840" y="24140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20640" y="3136392"/>
            <a:ext cx="3749040" cy="749808"/>
          </a:xfrm>
          <a:prstGeom prst="rect">
            <a:avLst/>
          </a:prstGeom>
          <a:solidFill>
            <a:srgbClr val="1A2235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3136392"/>
            <a:ext cx="64008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9512" y="3255264"/>
            <a:ext cx="457200" cy="502920"/>
          </a:xfrm>
          <a:prstGeom prst="rect">
            <a:avLst/>
          </a:prstGeom>
          <a:solidFill>
            <a:srgbClr val="0F152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9512" y="32552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·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806440" y="31912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NOOP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80644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עומד במקום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863840" y="3355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20640" y="4023360"/>
            <a:ext cx="3749040" cy="960120"/>
          </a:xfrm>
          <a:prstGeom prst="rect">
            <a:avLst/>
          </a:prstGeom>
          <a:solidFill>
            <a:srgbClr val="0F152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40965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מערכת ניקוד (Reward)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57800" y="43982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כדור עובר מחבט יריב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כדור עובר מחבט שלנו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52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המחבט הירוק = הסוכן שלנו  |  המחבט האדום = יריב מחשב  |  reward רק בסוף נקודה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מהפיקסלים לפעולה — forward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137160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941832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קלט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" y="134416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4×84×84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18488" y="132588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868680"/>
            <a:ext cx="146304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75104" y="941832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CNN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75104" y="1344168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שכבות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qconv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1568" y="132588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868680"/>
            <a:ext cx="137160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941832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flatten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66744" y="134416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3,136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וקטור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01768" y="132588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868680"/>
            <a:ext cx="146304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941832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Policy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head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66944" y="1344168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 512→6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93408" y="132588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868680"/>
            <a:ext cx="146304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8584" y="941832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softmax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58584" y="1344168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הסתברויות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[0,1]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103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פלט הרשת — הסתברות לכל פעולה: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" y="25146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251460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2578608"/>
            <a:ext cx="5029200" cy="219456"/>
          </a:xfrm>
          <a:prstGeom prst="rect">
            <a:avLst/>
          </a:prstGeom>
          <a:solidFill>
            <a:srgbClr val="0F152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2578608"/>
            <a:ext cx="25146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25146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" y="29352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29352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0" y="2999232"/>
            <a:ext cx="5029200" cy="219456"/>
          </a:xfrm>
          <a:prstGeom prst="rect">
            <a:avLst/>
          </a:prstGeom>
          <a:solidFill>
            <a:srgbClr val="0F152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2999232"/>
            <a:ext cx="201168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29352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3319272"/>
            <a:ext cx="8778240" cy="438912"/>
          </a:xfrm>
          <a:prstGeom prst="rect">
            <a:avLst/>
          </a:prstGeom>
          <a:solidFill>
            <a:srgbClr val="0D281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3558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33558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RIGHT ↑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60320" y="3419856"/>
            <a:ext cx="5029200" cy="219456"/>
          </a:xfrm>
          <a:prstGeom prst="rect">
            <a:avLst/>
          </a:prstGeom>
          <a:solidFill>
            <a:srgbClr val="0F152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3419856"/>
            <a:ext cx="3118104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33558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43016" y="3355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← נבחר!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" y="37764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37764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LEFT 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60320" y="3840480"/>
            <a:ext cx="5029200" cy="219456"/>
          </a:xfrm>
          <a:prstGeom prst="rect">
            <a:avLst/>
          </a:prstGeom>
          <a:solidFill>
            <a:srgbClr val="0F152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3840480"/>
            <a:ext cx="905256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37764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28600" y="41970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419709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RIGHTFIRE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60320" y="4261104"/>
            <a:ext cx="5029200" cy="219456"/>
          </a:xfrm>
          <a:prstGeom prst="rect">
            <a:avLst/>
          </a:prstGeom>
          <a:solidFill>
            <a:srgbClr val="0F152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0" y="4261104"/>
            <a:ext cx="352044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80960" y="41970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7%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28600" y="46177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" y="46177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LEFTFIRE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560320" y="4681728"/>
            <a:ext cx="5029200" cy="219456"/>
          </a:xfrm>
          <a:prstGeom prst="rect">
            <a:avLst/>
          </a:prstGeom>
          <a:solidFill>
            <a:srgbClr val="0F152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0" y="4681728"/>
            <a:ext cx="201168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46177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52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np.random.choice(actions, p=probs)  — דגימה הסתברותית, לא argmax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Pong Action Space</dc:title>
  <dc:subject>PptxGenJS Presentation</dc:subject>
  <dc:creator>PptxGenJS</dc:creator>
  <cp:lastModifiedBy>PptxGenJS</cp:lastModifiedBy>
  <cp:revision>1</cp:revision>
  <dcterms:created xsi:type="dcterms:W3CDTF">2026-03-28T08:49:17Z</dcterms:created>
  <dcterms:modified xsi:type="dcterms:W3CDTF">2026-03-28T08:49:17Z</dcterms:modified>
</cp:coreProperties>
</file>